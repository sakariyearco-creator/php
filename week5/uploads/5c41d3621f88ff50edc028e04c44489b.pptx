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01000" y="0"/>
            <a:ext cx="4190695" cy="6858000"/>
          </a:xfrm>
          <a:prstGeom prst="rect">
            <a:avLst/>
          </a:prstGeom>
          <a:solidFill>
            <a:srgbClr val="BF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13648" y="914400"/>
            <a:ext cx="1874519" cy="187451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05672" y="1271016"/>
            <a:ext cx="1481328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100" b="1">
                <a:solidFill>
                  <a:srgbClr val="BF0030"/>
                </a:solidFill>
                <a:latin typeface="Aptos"/>
              </a:rPr>
              <a:t>R</a:t>
            </a:r>
          </a:p>
        </p:txBody>
      </p:sp>
      <p:sp>
        <p:nvSpPr>
          <p:cNvPr id="5" name="Oval 4"/>
          <p:cNvSpPr/>
          <p:nvPr/>
        </p:nvSpPr>
        <p:spPr>
          <a:xfrm>
            <a:off x="10287000" y="2999232"/>
            <a:ext cx="841248" cy="841248"/>
          </a:xfrm>
          <a:prstGeom prst="ellipse">
            <a:avLst/>
          </a:prstGeom>
          <a:solidFill>
            <a:srgbClr val="F5B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44784" y="4133087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85632" y="5330952"/>
            <a:ext cx="3017520" cy="621792"/>
          </a:xfrm>
          <a:prstGeom prst="roundRect">
            <a:avLst/>
          </a:prstGeom>
          <a:solidFill>
            <a:srgbClr val="9D0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13648" y="5504688"/>
            <a:ext cx="27432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JAPAN  •  FOUNDED 1997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"/>
            <a:ext cx="6217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7DAE1"/>
                </a:solidFill>
                <a:latin typeface="Aptos"/>
              </a:rPr>
              <a:t>JAMHURIYA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417320"/>
            <a:ext cx="68580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ptos"/>
              </a:rPr>
              <a:t>RAKUTEN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68880"/>
            <a:ext cx="65836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C1CD"/>
                </a:solidFill>
                <a:latin typeface="Aptos"/>
              </a:rPr>
              <a:t>E-COMMERCE PLATFORM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310128"/>
            <a:ext cx="64008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E0E3E9"/>
                </a:solidFill>
                <a:latin typeface="Aptos"/>
              </a:rPr>
              <a:t>Origin • Products • History &amp; Growth
Revenue • Countries of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434840"/>
            <a:ext cx="6217920" cy="1170432"/>
          </a:xfrm>
          <a:prstGeom prst="roundRect">
            <a:avLst/>
          </a:prstGeom>
          <a:solidFill>
            <a:srgbClr val="2A2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590288"/>
            <a:ext cx="5669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PRESENTED BY  |  SAKARIA OSMAN YOUSUF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010912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DFE6"/>
                </a:solidFill>
                <a:latin typeface="Aptos"/>
              </a:rPr>
              <a:t>CLASS: CA233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5010912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DFE6"/>
                </a:solidFill>
                <a:latin typeface="Aptos"/>
              </a:rPr>
              <a:t>ID: C1231150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5010912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DFE6"/>
                </a:solidFill>
                <a:latin typeface="Aptos"/>
              </a:rPr>
              <a:t>GROUP: 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199632"/>
            <a:ext cx="5943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AB0BA"/>
                </a:solidFill>
                <a:latin typeface="Aptos"/>
              </a:rPr>
              <a:t>E-COMMERCE ASSIGNMENT  •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86F7A"/>
                </a:solidFill>
                <a:latin typeface="Aptos"/>
              </a:rPr>
              <a:t>E-COMMERCE  /  RAKUTEN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210312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F0030"/>
                </a:solidFill>
                <a:latin typeface="Aptos"/>
              </a:rPr>
              <a:t>02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475488" cy="50292"/>
          </a:xfrm>
          <a:prstGeom prst="rect">
            <a:avLst/>
          </a:prstGeom>
          <a:solidFill>
            <a:srgbClr val="BF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521207"/>
            <a:ext cx="4572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F0030"/>
                </a:solidFill>
                <a:latin typeface="Aptos"/>
              </a:rPr>
              <a:t>01 — COUNTRY OF ORIGIN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87552"/>
            <a:ext cx="6492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A1D24"/>
                </a:solidFill>
                <a:latin typeface="Aptos"/>
              </a:rPr>
              <a:t>Where is Rakuten from?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00784"/>
            <a:ext cx="62179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2B2F37"/>
                </a:solidFill>
                <a:latin typeface="Aptos"/>
              </a:rPr>
              <a:t>Rakuten Group, Inc. is a Japanese company headquartered in Tokyo, Japan.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16352"/>
            <a:ext cx="59893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090672"/>
            <a:ext cx="21945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BF0030"/>
                </a:solidFill>
                <a:latin typeface="Aptos"/>
              </a:rPr>
              <a:t>JAPAN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50749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A1D24"/>
                </a:solidFill>
                <a:latin typeface="Aptos"/>
              </a:rPr>
              <a:t>Tokyo, Japan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24528"/>
            <a:ext cx="5074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6F7A"/>
                </a:solidFill>
                <a:latin typeface="Aptos"/>
              </a:rPr>
              <a:t>Headquarters: Rakuten Crimson House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325880"/>
            <a:ext cx="4251960" cy="4251960"/>
          </a:xfrm>
          <a:prstGeom prst="round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755648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BECA"/>
                </a:solidFill>
                <a:latin typeface="Aptos"/>
              </a:rPr>
              <a:t>KEY 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331720"/>
            <a:ext cx="33375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Not China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063240"/>
            <a:ext cx="33375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CDFE6"/>
                </a:solidFill>
                <a:latin typeface="Aptos"/>
              </a:rPr>
              <a:t>Rakuten was founded in Japan in 1997.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251960"/>
            <a:ext cx="33375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BECA"/>
                </a:solidFill>
                <a:latin typeface="Aptos"/>
              </a:rPr>
              <a:t>🇯🇵  JAPAN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36208"/>
            <a:ext cx="10515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86F7A"/>
                </a:solidFill>
                <a:latin typeface="Aptos"/>
              </a:rPr>
              <a:t>Source: Rakuten Group — About 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86F7A"/>
                </a:solidFill>
                <a:latin typeface="Aptos"/>
              </a:rPr>
              <a:t>E-COMMERCE  /  RAKUTEN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210312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F0030"/>
                </a:solidFill>
                <a:latin typeface="Aptos"/>
              </a:rPr>
              <a:t>03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475488" cy="50292"/>
          </a:xfrm>
          <a:prstGeom prst="rect">
            <a:avLst/>
          </a:prstGeom>
          <a:solidFill>
            <a:srgbClr val="BF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521207"/>
            <a:ext cx="4572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F0030"/>
                </a:solidFill>
                <a:latin typeface="Aptos"/>
              </a:rPr>
              <a:t>02 — PRODUCTS &amp;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87552"/>
            <a:ext cx="7955279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A1D24"/>
                </a:solidFill>
                <a:latin typeface="Aptos"/>
              </a:rPr>
              <a:t>What does Rakuten sell or provide?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8229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86F7A"/>
                </a:solidFill>
                <a:latin typeface="Aptos"/>
              </a:rPr>
              <a:t>Rakuten operates an online marketplace and a wider digital-services ecosystem.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31720"/>
            <a:ext cx="5230368" cy="1417320"/>
          </a:xfrm>
          <a:prstGeom prst="round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2578608"/>
            <a:ext cx="566928" cy="566928"/>
          </a:xfrm>
          <a:prstGeom prst="ellipse">
            <a:avLst/>
          </a:prstGeom>
          <a:solidFill>
            <a:srgbClr val="BF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2514600"/>
            <a:ext cx="397763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A1D24"/>
                </a:solidFill>
                <a:latin typeface="Aptos"/>
              </a:rPr>
              <a:t>Online shopping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3352" y="295351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86F7A"/>
                </a:solidFill>
                <a:latin typeface="Aptos"/>
              </a:rPr>
              <a:t>Clothes, electronics,
beauty and home goods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331720"/>
            <a:ext cx="5230368" cy="1417320"/>
          </a:xfrm>
          <a:prstGeom prst="round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4808" y="2578608"/>
            <a:ext cx="566928" cy="566928"/>
          </a:xfrm>
          <a:prstGeom prst="ellipse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743200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2514600"/>
            <a:ext cx="397763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A1D24"/>
                </a:solidFill>
                <a:latin typeface="Aptos"/>
              </a:rPr>
              <a:t>Travel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8" y="295351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86F7A"/>
                </a:solidFill>
                <a:latin typeface="Aptos"/>
              </a:rPr>
              <a:t>Hotel reservations
and travel bookings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60520"/>
            <a:ext cx="5230368" cy="1417320"/>
          </a:xfrm>
          <a:prstGeom prst="round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1832" y="4407408"/>
            <a:ext cx="566928" cy="566928"/>
          </a:xfrm>
          <a:prstGeom prst="ellipse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572000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4343400"/>
            <a:ext cx="397763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A1D24"/>
                </a:solidFill>
                <a:latin typeface="Aptos"/>
              </a:rPr>
              <a:t>Digital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3352" y="478231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86F7A"/>
                </a:solidFill>
                <a:latin typeface="Aptos"/>
              </a:rPr>
              <a:t>E-books, video and
online entertainment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4160520"/>
            <a:ext cx="5230368" cy="1417320"/>
          </a:xfrm>
          <a:prstGeom prst="roundRect">
            <a:avLst/>
          </a:prstGeom>
          <a:solidFill>
            <a:srgbClr val="F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4407408"/>
            <a:ext cx="566928" cy="566928"/>
          </a:xfrm>
          <a:prstGeom prst="ellipse">
            <a:avLst/>
          </a:prstGeom>
          <a:solidFill>
            <a:srgbClr val="BF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572000"/>
            <a:ext cx="5303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8" y="4343400"/>
            <a:ext cx="397763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A1D24"/>
                </a:solidFill>
                <a:latin typeface="Aptos"/>
              </a:rPr>
              <a:t>Financial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478231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86F7A"/>
                </a:solidFill>
                <a:latin typeface="Aptos"/>
              </a:rPr>
              <a:t>Credit cards, banking
and digital payments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217920"/>
            <a:ext cx="10515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86F7A"/>
                </a:solidFill>
                <a:latin typeface="Aptos"/>
              </a:rPr>
              <a:t>Source: Rakuten Group — Our Businesses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86F7A"/>
                </a:solidFill>
                <a:latin typeface="Aptos"/>
              </a:rPr>
              <a:t>E-COMMERCE  /  RAKUTEN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210312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F0030"/>
                </a:solidFill>
                <a:latin typeface="Aptos"/>
              </a:rPr>
              <a:t>04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475488" cy="50292"/>
          </a:xfrm>
          <a:prstGeom prst="rect">
            <a:avLst/>
          </a:prstGeom>
          <a:solidFill>
            <a:srgbClr val="BF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521207"/>
            <a:ext cx="4572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F0030"/>
                </a:solidFill>
                <a:latin typeface="Aptos"/>
              </a:rPr>
              <a:t>03 — FOUNDING &amp;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87552"/>
            <a:ext cx="73152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D24"/>
                </a:solidFill>
                <a:latin typeface="Aptos"/>
              </a:rPr>
              <a:t>From online mall to global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8412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86F7A"/>
                </a:solidFill>
                <a:latin typeface="Aptos"/>
              </a:rPr>
              <a:t>Rakuten began with online shopping and expanded into many digital services.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834640"/>
            <a:ext cx="9966960" cy="54864"/>
          </a:xfrm>
          <a:prstGeom prst="rect">
            <a:avLst/>
          </a:prstGeom>
          <a:solidFill>
            <a:srgbClr val="DC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587752"/>
            <a:ext cx="502920" cy="502920"/>
          </a:xfrm>
          <a:prstGeom prst="ellipse">
            <a:avLst/>
          </a:prstGeom>
          <a:solidFill>
            <a:srgbClr val="BF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1371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BF0030"/>
                </a:solidFill>
                <a:latin typeface="Aptos"/>
              </a:rPr>
              <a:t>1997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D24"/>
                </a:solidFill>
                <a:latin typeface="Aptos"/>
              </a:rPr>
              <a:t>Company founded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49039"/>
            <a:ext cx="201168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F7A"/>
                </a:solidFill>
                <a:latin typeface="Aptos"/>
              </a:rPr>
              <a:t>Rakuten Ichiba launches</a:t>
            </a:r>
          </a:p>
        </p:txBody>
      </p:sp>
      <p:sp>
        <p:nvSpPr>
          <p:cNvPr id="13" name="Oval 12"/>
          <p:cNvSpPr/>
          <p:nvPr/>
        </p:nvSpPr>
        <p:spPr>
          <a:xfrm>
            <a:off x="3794760" y="2587752"/>
            <a:ext cx="502920" cy="502920"/>
          </a:xfrm>
          <a:prstGeom prst="ellipse">
            <a:avLst/>
          </a:prstGeom>
          <a:solidFill>
            <a:srgbClr val="BF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965960"/>
            <a:ext cx="1371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BF0030"/>
                </a:solidFill>
                <a:latin typeface="Aptos"/>
              </a:rPr>
              <a:t>2000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337560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D24"/>
                </a:solidFill>
                <a:latin typeface="Aptos"/>
              </a:rPr>
              <a:t>IPO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749039"/>
            <a:ext cx="201168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F7A"/>
                </a:solidFill>
                <a:latin typeface="Aptos"/>
              </a:rPr>
              <a:t>Expansion into new services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0" y="2587752"/>
            <a:ext cx="502920" cy="502920"/>
          </a:xfrm>
          <a:prstGeom prst="ellipse">
            <a:avLst/>
          </a:prstGeom>
          <a:solidFill>
            <a:srgbClr val="BF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965960"/>
            <a:ext cx="1371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BF0030"/>
                </a:solidFill>
                <a:latin typeface="Aptos"/>
              </a:rPr>
              <a:t>2010s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37560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D24"/>
                </a:solidFill>
                <a:latin typeface="Aptos"/>
              </a:rPr>
              <a:t>Global 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49039"/>
            <a:ext cx="201168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F7A"/>
                </a:solidFill>
                <a:latin typeface="Aptos"/>
              </a:rPr>
              <a:t>FinTech, content &amp; telecom</a:t>
            </a:r>
          </a:p>
        </p:txBody>
      </p:sp>
      <p:sp>
        <p:nvSpPr>
          <p:cNvPr id="21" name="Oval 20"/>
          <p:cNvSpPr/>
          <p:nvPr/>
        </p:nvSpPr>
        <p:spPr>
          <a:xfrm>
            <a:off x="9372600" y="2587752"/>
            <a:ext cx="502920" cy="502920"/>
          </a:xfrm>
          <a:prstGeom prst="ellipse">
            <a:avLst/>
          </a:prstGeom>
          <a:solidFill>
            <a:srgbClr val="BF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1965960"/>
            <a:ext cx="1371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BF0030"/>
                </a:solidFill>
                <a:latin typeface="Aptos"/>
              </a:rPr>
              <a:t>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337560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D24"/>
                </a:solidFill>
                <a:latin typeface="Aptos"/>
              </a:rPr>
              <a:t>Large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749039"/>
            <a:ext cx="201168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6F7A"/>
                </a:solidFill>
                <a:latin typeface="Aptos"/>
              </a:rPr>
              <a:t>70+ services worldwide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074920"/>
            <a:ext cx="10698480" cy="713232"/>
          </a:xfrm>
          <a:prstGeom prst="round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5285232"/>
            <a:ext cx="10012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GROWTH:  E-commerce  →  FinTech  →  Digital content  →  Communications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236208"/>
            <a:ext cx="10607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86F7A"/>
                </a:solidFill>
                <a:latin typeface="Aptos"/>
              </a:rPr>
              <a:t>Source: Rakuten Group — Our History &amp; About 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CED3DC"/>
                </a:solidFill>
                <a:latin typeface="Aptos"/>
              </a:rPr>
              <a:t>E-COMMERCE  /  RAKUTEN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210312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FB9C8"/>
                </a:solidFill>
                <a:latin typeface="Aptos"/>
              </a:rPr>
              <a:t>05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475488" cy="50292"/>
          </a:xfrm>
          <a:prstGeom prst="rect">
            <a:avLst/>
          </a:prstGeom>
          <a:solidFill>
            <a:srgbClr val="BF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521207"/>
            <a:ext cx="4572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B9C8"/>
                </a:solidFill>
                <a:latin typeface="Aptos"/>
              </a:rPr>
              <a:t>04 — REVENUE &amp; COUNTRIES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41832"/>
            <a:ext cx="80467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Revenue and global presence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0D5DE"/>
                </a:solidFill>
                <a:latin typeface="Aptos"/>
              </a:rPr>
              <a:t>Latest full-year reported figures: FY2025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48840"/>
            <a:ext cx="4937760" cy="1481328"/>
          </a:xfrm>
          <a:prstGeom prst="roundRect">
            <a:avLst/>
          </a:prstGeom>
          <a:solidFill>
            <a:srgbClr val="BF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42976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ptos"/>
              </a:rPr>
              <a:t>¥2.5 trillion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4297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Consolidated revenue in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148840"/>
            <a:ext cx="5440680" cy="1481328"/>
          </a:xfrm>
          <a:prstGeom prst="roundRect">
            <a:avLst/>
          </a:prstGeom>
          <a:solidFill>
            <a:srgbClr val="2B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395728"/>
            <a:ext cx="46634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C3CF"/>
                </a:solidFill>
                <a:latin typeface="Aptos"/>
              </a:rPr>
              <a:t>+9.5%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017520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Growth compared with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05072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C3CF"/>
                </a:solidFill>
                <a:latin typeface="Aptos"/>
              </a:rPr>
              <a:t>WHERE IS IT USED?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434840"/>
            <a:ext cx="47091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Rakuten’s services reach 30 countries and regions, including Japan, the United States, France, the United Kingdom, Taiwan and Canada.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005072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C3CF"/>
                </a:solidFill>
                <a:latin typeface="Aptos"/>
              </a:rPr>
              <a:t>CONCLUSION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434840"/>
            <a:ext cx="51206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Rakuten is a Japanese company that sells products online and provides travel, financial and digital services worldwide.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5623560"/>
            <a:ext cx="10607040" cy="530352"/>
          </a:xfrm>
          <a:prstGeom prst="roundRect">
            <a:avLst/>
          </a:prstGeom>
          <a:solidFill>
            <a:srgbClr val="2B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69864"/>
            <a:ext cx="10241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6E9EE"/>
                </a:solidFill>
                <a:latin typeface="Aptos"/>
              </a:rPr>
              <a:t>PRESENTED BY: SAKARIA OSMAN YOUSUF  |  CA233  |  C1231150  |  GROUP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6382512"/>
            <a:ext cx="10698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5ACB6"/>
                </a:solidFill>
                <a:latin typeface="Aptos"/>
              </a:rPr>
              <a:t>Sources: Rakuten Group FY2025 Financial Results; Our Businesses; About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Rakuten E-Commerce Platform Analysis</dc:title>
  <dc:subject>Five slides: origin, products, history, revenue and countries</dc:subject>
  <dc:creator>SAKARIA OSMAN YOUSUF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